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Power CEO Projektbericht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Made-in-Austria Energy Orchestrator</a:t>
            </a:r>
            <a:br/>
            <a:r>
              <a:t>Stand: 14. 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Projektübersicht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Projektname: Power</a:t>
            </a:r>
          </a:p>
          <a:p>
            <a:pPr>
              <a:spcAft>
                <a:spcPts val="1200"/>
              </a:spcAft>
              <a:defRPr sz="2000"/>
            </a:pPr>
            <a:r>
              <a:t>• Positionierung: Made-in-Austria Energy Orchestrator (EMS-Plattform)</a:t>
            </a:r>
          </a:p>
          <a:p>
            <a:pPr>
              <a:spcAft>
                <a:spcPts val="1200"/>
              </a:spcAft>
              <a:defRPr sz="2000"/>
            </a:pPr>
            <a:r>
              <a:t>• Standort: Österreich</a:t>
            </a:r>
          </a:p>
          <a:p>
            <a:pPr>
              <a:spcAft>
                <a:spcPts val="1200"/>
              </a:spcAft>
              <a:defRPr sz="2000"/>
            </a:pPr>
            <a:r>
              <a:t>• Fokus: Battery + Wallbox + Tarif-Engine</a:t>
            </a:r>
          </a:p>
          <a:p>
            <a:pPr>
              <a:spcAft>
                <a:spcPts val="1200"/>
              </a:spcAft>
              <a:defRPr sz="2000"/>
            </a:pPr>
            <a:r>
              <a:t>• Aktueller Status: Phase 2 Vorbereitung (Pausiert)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Ampelstatus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Bereiche</a:t>
            </a:r>
          </a:p>
          <a:p>
            <a:pPr>
              <a:spcAft>
                <a:spcPts val="800"/>
              </a:spcAft>
              <a:defRPr sz="1800"/>
            </a:pPr>
            <a:r>
              <a:t>• Product: Konzeption</a:t>
            </a:r>
          </a:p>
          <a:p>
            <a:pPr>
              <a:spcAft>
                <a:spcPts val="800"/>
              </a:spcAft>
              <a:defRPr sz="1800"/>
            </a:pPr>
            <a:r>
              <a:t>• Tech: Repository Setup</a:t>
            </a:r>
          </a:p>
          <a:p>
            <a:pPr>
              <a:spcAft>
                <a:spcPts val="800"/>
              </a:spcAft>
              <a:defRPr sz="1800"/>
            </a:pPr>
            <a:r>
              <a:t>• Regulatory: Vorprüfung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Status</a:t>
            </a:r>
          </a:p>
          <a:p>
            <a:pPr>
              <a:spcAft>
                <a:spcPts val="800"/>
              </a:spcAft>
              <a:defRPr sz="1800"/>
            </a:pPr>
            <a:r>
              <a:t>• Go-To-Market: Partneraufbau</a:t>
            </a:r>
          </a:p>
          <a:p>
            <a:pPr>
              <a:spcAft>
                <a:spcPts val="800"/>
              </a:spcAft>
              <a:defRPr sz="1800"/>
            </a:pPr>
            <a:r>
              <a:t>• Funding: Förder-Scouting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Phase 1 Ergebnisse -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ICP_SNAPSHOT.md - Primär/sekundär ICP definiert</a:t>
            </a:r>
          </a:p>
          <a:p>
            <a:pPr>
              <a:spcAft>
                <a:spcPts val="1200"/>
              </a:spcAft>
              <a:defRPr sz="2000"/>
            </a:pPr>
            <a:r>
              <a:t>• VALUE_PROPOSITION_AT.md - Nutzen quantifiziert (Haushalt: 30-70€/Monat, KMU: 120-450€/Monat)</a:t>
            </a:r>
          </a:p>
          <a:p>
            <a:pPr>
              <a:spcAft>
                <a:spcPts val="1200"/>
              </a:spcAft>
              <a:defRPr sz="2000"/>
            </a:pPr>
            <a:r>
              <a:t>• GTM_HYPOTHESES_AT.md - 4 testbare GTM-Hypothesen</a:t>
            </a:r>
          </a:p>
          <a:p>
            <a:pPr>
              <a:spcAft>
                <a:spcPts val="1200"/>
              </a:spcAft>
              <a:defRPr sz="2000"/>
            </a:pPr>
            <a:r>
              <a:t>• REGULATORY_AT.md - EMS vs. Stromlieferant Abgrenzung</a:t>
            </a:r>
          </a:p>
          <a:p>
            <a:pPr>
              <a:spcAft>
                <a:spcPts val="1200"/>
              </a:spcAft>
              <a:defRPr sz="2000"/>
            </a:pPr>
            <a:r>
              <a:t>• FUNDING_WORKPLAN.md - Förderfähigkeits-Matrix (Q2-Q4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Phase 2 Pakete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Paket 1: Kickoff - ⏳ Wartend (Termin-ID + Owner fehlen)</a:t>
            </a:r>
          </a:p>
          <a:p>
            <a:pPr>
              <a:spcAft>
                <a:spcPts val="1200"/>
              </a:spcAft>
              <a:defRPr sz="2000"/>
            </a:pPr>
            <a:r>
              <a:t>• Paket 2: Smart-Meter API - ✅ QA-complete (TC-27..TC-43)</a:t>
            </a:r>
          </a:p>
          <a:p>
            <a:pPr>
              <a:spcAft>
                <a:spcPts val="1200"/>
              </a:spcAft>
              <a:defRPr sz="2000"/>
            </a:pPr>
            <a:r>
              <a:t>• Paket 3: Tarif-Engine - ✅ QA-complete (TC-34..TC-38)</a:t>
            </a:r>
          </a:p>
          <a:p>
            <a:pPr>
              <a:spcAft>
                <a:spcPts val="1200"/>
              </a:spcAft>
              <a:defRPr sz="2000"/>
            </a:pPr>
            <a:r>
              <a:t>• Paket 4: Device Control - ✅ QA-complete (TC-20..TC-31)</a:t>
            </a:r>
          </a:p>
          <a:p>
            <a:pPr>
              <a:spcAft>
                <a:spcPts val="1200"/>
              </a:spcAft>
              <a:defRPr sz="2000"/>
            </a:pPr>
            <a:r>
              <a:t>• Paket 5: Monitoring - ✅ QA-complete (TC-MON-1..TC-MON-8)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QA Abdeckung - 43 Testfälle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Paket 1 (Auth): TC-17..TC-19 - 100%</a:t>
            </a:r>
          </a:p>
          <a:p>
            <a:pPr>
              <a:spcAft>
                <a:spcPts val="1200"/>
              </a:spcAft>
              <a:defRPr sz="2000"/>
            </a:pPr>
            <a:r>
              <a:t>• Paket 2 (Smart-Meter): TC-27..TC-43 - 100%</a:t>
            </a:r>
          </a:p>
          <a:p>
            <a:pPr>
              <a:spcAft>
                <a:spcPts val="1200"/>
              </a:spcAft>
              <a:defRPr sz="2000"/>
            </a:pPr>
            <a:r>
              <a:t>• Paket 3 (Tarif): TC-34..TC-38 - 100%</a:t>
            </a:r>
          </a:p>
          <a:p>
            <a:pPr>
              <a:spcAft>
                <a:spcPts val="1200"/>
              </a:spcAft>
              <a:defRPr sz="2000"/>
            </a:pPr>
            <a:r>
              <a:t>• Paket 4 (Device): TC-20..TC-31 - 100%</a:t>
            </a:r>
          </a:p>
          <a:p>
            <a:pPr>
              <a:spcAft>
                <a:spcPts val="1200"/>
              </a:spcAft>
              <a:defRPr sz="2000"/>
            </a:pPr>
            <a:r>
              <a:t>• Paket 5 (Monitoring): TC-MON-1..TC-MON-8 - 100%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Monitoring &amp; 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P1 Alarme</a:t>
            </a:r>
          </a:p>
          <a:p>
            <a:pPr>
              <a:spcAft>
                <a:spcPts val="800"/>
              </a:spcAft>
              <a:defRPr sz="1800"/>
            </a:pPr>
            <a:r>
              <a:t>• API-Ausfall</a:t>
            </a:r>
          </a:p>
          <a:p>
            <a:pPr>
              <a:spcAft>
                <a:spcPts val="800"/>
              </a:spcAft>
              <a:defRPr sz="1800"/>
            </a:pPr>
            <a:r>
              <a:t>• Device-Command-Failure</a:t>
            </a:r>
          </a:p>
          <a:p>
            <a:pPr>
              <a:spcAft>
                <a:spcPts val="800"/>
              </a:spcAft>
              <a:defRPr sz="1800"/>
            </a:pPr>
            <a:r>
              <a:t>• Tarif-Freshness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Implementiert</a:t>
            </a:r>
          </a:p>
          <a:p>
            <a:pPr>
              <a:spcAft>
                <a:spcPts val="800"/>
              </a:spcAft>
              <a:defRPr sz="1800"/>
            </a:pPr>
            <a:r>
              <a:t>• PromQL-Alarmregeln</a:t>
            </a:r>
          </a:p>
          <a:p>
            <a:pPr>
              <a:spcAft>
                <a:spcPts val="800"/>
              </a:spcAft>
              <a:defRPr sz="1800"/>
            </a:pPr>
            <a:r>
              <a:t>• Runbooks</a:t>
            </a:r>
          </a:p>
          <a:p>
            <a:pPr>
              <a:spcAft>
                <a:spcPts val="800"/>
              </a:spcAft>
              <a:defRPr sz="1800"/>
            </a:pPr>
            <a:r>
              <a:t>• Alert-Drill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Funding &amp; Förderung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Q2 2026: aws Preseed (Förderung)</a:t>
            </a:r>
          </a:p>
          <a:p>
            <a:pPr>
              <a:spcAft>
                <a:spcPts val="1200"/>
              </a:spcAft>
              <a:defRPr sz="2000"/>
            </a:pPr>
            <a:r>
              <a:t>• Q3 2026: Seedfinancing (Investoren)</a:t>
            </a:r>
          </a:p>
          <a:p>
            <a:pPr>
              <a:spcAft>
                <a:spcPts val="1200"/>
              </a:spcAft>
              <a:defRPr sz="2000"/>
            </a:pPr>
            <a:r>
              <a:t>• Q3-Q4 2026: Fertigungsüberleitung (Förderung)</a:t>
            </a:r>
          </a:p>
          <a:p>
            <a:pPr>
              <a:spcAft>
                <a:spcPts val="1200"/>
              </a:spcAft>
              <a:defRPr sz="2000"/>
            </a:pPr>
            <a:r>
              <a:t>• Q4 2026: ERP-Darlehen (Bank)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Reaktivierung: Auf Signal von Lech warten</a:t>
            </a:r>
          </a:p>
          <a:p>
            <a:pPr>
              <a:spcAft>
                <a:spcPts val="1200"/>
              </a:spcAft>
              <a:defRPr sz="2000"/>
            </a:pPr>
            <a:r>
              <a:t>• 2. Kickoff durchführen: Termin-ID + Owner eintragen</a:t>
            </a:r>
          </a:p>
          <a:p>
            <a:pPr>
              <a:spcAft>
                <a:spcPts val="1200"/>
              </a:spcAft>
              <a:defRPr sz="2000"/>
            </a:pPr>
            <a:r>
              <a:t>• 3. Paket 2 Scope Sign-off nachholen</a:t>
            </a:r>
          </a:p>
          <a:p>
            <a:pPr>
              <a:spcAft>
                <a:spcPts val="1200"/>
              </a:spcAft>
              <a:defRPr sz="2000"/>
            </a:pPr>
            <a:r>
              <a:t>• 4. Implementation Start: Backend/Frontend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3 von 5 Paketen QA-complete</a:t>
            </a:r>
            <a:br/>
            <a:r>
              <a:t>43 funktionale Testfälle + 8 Monitoring-Tests</a:t>
            </a:r>
            <a:br/>
            <a:r>
              <a:t>Phase 2 wartet auf Reaktivierung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